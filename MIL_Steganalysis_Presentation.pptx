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1A89C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365760"/>
            <a:ext cx="2560320" cy="2560320"/>
          </a:xfrm>
          <a:prstGeom prst="ellipse">
            <a:avLst/>
          </a:prstGeom>
          <a:solidFill>
            <a:srgbClr val="0D7C7C">
              <a:alpha val="25000"/>
            </a:srgbClr>
          </a:solidFill>
          <a:ln w="12700">
            <a:solidFill>
              <a:srgbClr val="0D7C7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274320"/>
            <a:ext cx="1645920" cy="1645920"/>
          </a:xfrm>
          <a:prstGeom prst="ellipse">
            <a:avLst/>
          </a:prstGeom>
          <a:solidFill>
            <a:srgbClr val="11A89C">
              <a:alpha val="40000"/>
            </a:srgbClr>
          </a:solidFill>
          <a:ln w="12700">
            <a:solidFill>
              <a:srgbClr val="11A89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MIL-Based Steganalysis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Evolution: v1 → v2 → v4 (Final)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5029200" cy="0"/>
          </a:xfrm>
          <a:prstGeom prst="line">
            <a:avLst/>
          </a:prstGeom>
          <a:noFill/>
          <a:ln w="25400">
            <a:solidFill>
              <a:srgbClr val="11A8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LSB Steganography with Deep Learning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2377440" cy="1097280"/>
          </a:xfrm>
          <a:prstGeom prst="rect">
            <a:avLst/>
          </a:prstGeom>
          <a:solidFill>
            <a:srgbClr val="1A3A6B"/>
          </a:solidFill>
          <a:ln w="19050">
            <a:solidFill>
              <a:srgbClr val="11A8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342900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A8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0352" y="391363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3383280"/>
            <a:ext cx="2377440" cy="1097280"/>
          </a:xfrm>
          <a:prstGeom prst="rect">
            <a:avLst/>
          </a:prstGeom>
          <a:solidFill>
            <a:srgbClr val="1A3A6B"/>
          </a:solidFill>
          <a:ln w="19050">
            <a:solidFill>
              <a:srgbClr val="11A8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342900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A8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182112" y="391363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SRNet (SRM Fix)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3383280"/>
            <a:ext cx="2377440" cy="1097280"/>
          </a:xfrm>
          <a:prstGeom prst="rect">
            <a:avLst/>
          </a:prstGeom>
          <a:solidFill>
            <a:srgbClr val="1A3A6B"/>
          </a:solidFill>
          <a:ln w="19050">
            <a:solidFill>
              <a:srgbClr val="11A8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342900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A8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833872" y="391363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Backbone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BOSSbase Dataset  •  0.4 bpp LSB  •  256×256 Grayscale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Steganalysis?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01168" cy="201168"/>
          </a:xfrm>
          <a:prstGeom prst="ellipse">
            <a:avLst/>
          </a:prstGeom>
          <a:solidFill>
            <a:srgbClr val="11A89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 hides data in the least-significant bit of pixel values.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130552"/>
            <a:ext cx="201168" cy="201168"/>
          </a:xfrm>
          <a:prstGeom prst="ellipse">
            <a:avLst/>
          </a:prstGeom>
          <a:solidFill>
            <a:srgbClr val="11A89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848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changed pixel shifts by exactly ±1 gray level — visually imperceptible.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843784"/>
            <a:ext cx="201168" cy="201168"/>
          </a:xfrm>
          <a:prstGeom prst="ellipse">
            <a:avLst/>
          </a:prstGeom>
          <a:solidFill>
            <a:srgbClr val="11A89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256×256 image at 0.4 bpp carries ~26,000 hidden bits.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57016"/>
            <a:ext cx="201168" cy="201168"/>
          </a:xfrm>
          <a:prstGeom prst="ellipse">
            <a:avLst/>
          </a:prstGeom>
          <a:solidFill>
            <a:srgbClr val="11A89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1129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train a deep model to distinguish cover (clean) vs. stego images.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46320" y="822960"/>
            <a:ext cx="39319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It Hard?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83480" y="1417320"/>
            <a:ext cx="201168" cy="201168"/>
          </a:xfrm>
          <a:prstGeom prst="ellipse">
            <a:avLst/>
          </a:prstGeom>
          <a:solidFill>
            <a:srgbClr val="922B21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Signal-to-noise ratio is extremely low — max change is 1 gray level.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83480" y="2130552"/>
            <a:ext cx="201168" cy="201168"/>
          </a:xfrm>
          <a:prstGeom prst="ellipse">
            <a:avLst/>
          </a:prstGeom>
          <a:solidFill>
            <a:srgbClr val="922B21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20848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image textures mask the embedding pattern completely.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983480" y="2843784"/>
            <a:ext cx="201168" cy="201168"/>
          </a:xfrm>
          <a:prstGeom prst="ellipse">
            <a:avLst/>
          </a:prstGeom>
          <a:solidFill>
            <a:srgbClr val="922B21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27980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CNNs trained on ImageNet suppress high-frequency noise.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83480" y="3557016"/>
            <a:ext cx="201168" cy="201168"/>
          </a:xfrm>
          <a:prstGeom prst="ellipse">
            <a:avLst/>
          </a:prstGeom>
          <a:solidFill>
            <a:srgbClr val="922B21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351129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image patches are uninformative; only a few reveal the embedding.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Architecture: MIL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8872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256×256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508760"/>
            <a:ext cx="182880" cy="0"/>
          </a:xfrm>
          <a:prstGeom prst="line">
            <a:avLst/>
          </a:prstGeom>
          <a:noFill/>
          <a:ln w="25400">
            <a:solidFill>
              <a:srgbClr val="5C6B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097280"/>
            <a:ext cx="1188720" cy="822960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1143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508760"/>
            <a:ext cx="182880" cy="0"/>
          </a:xfrm>
          <a:prstGeom prst="line">
            <a:avLst/>
          </a:prstGeom>
          <a:noFill/>
          <a:ln w="25400">
            <a:solidFill>
              <a:srgbClr val="5C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97280"/>
            <a:ext cx="1188720" cy="822960"/>
          </a:xfrm>
          <a:prstGeom prst="rect">
            <a:avLst/>
          </a:prstGeom>
          <a:solidFill>
            <a:srgbClr val="11A89C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43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508760"/>
            <a:ext cx="182880" cy="0"/>
          </a:xfrm>
          <a:prstGeom prst="line">
            <a:avLst/>
          </a:prstGeom>
          <a:noFill/>
          <a:ln w="25400">
            <a:solidFill>
              <a:srgbClr val="5C6B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97280"/>
            <a:ext cx="1188720" cy="822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143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1508760"/>
            <a:ext cx="182880" cy="0"/>
          </a:xfrm>
          <a:prstGeom prst="line">
            <a:avLst/>
          </a:prstGeom>
          <a:noFill/>
          <a:ln w="25400">
            <a:solidFill>
              <a:srgbClr val="5C6B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97280"/>
            <a:ext cx="1188720" cy="822960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143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23760" y="1508760"/>
            <a:ext cx="182880" cy="0"/>
          </a:xfrm>
          <a:prstGeom prst="line">
            <a:avLst/>
          </a:prstGeom>
          <a:noFill/>
          <a:ln w="25400">
            <a:solidFill>
              <a:srgbClr val="5C6B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1097280"/>
            <a:ext cx="1188720" cy="822960"/>
          </a:xfrm>
          <a:prstGeom prst="rect">
            <a:avLst/>
          </a:prstGeom>
          <a:solidFill>
            <a:srgbClr val="0F1B35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1143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148840"/>
            <a:ext cx="8412480" cy="457200"/>
          </a:xfrm>
          <a:prstGeom prst="rect">
            <a:avLst/>
          </a:prstGeom>
          <a:solidFill>
            <a:srgbClr val="11A89C">
              <a:alpha val="20000"/>
            </a:srgbClr>
          </a:solidFill>
          <a:ln w="12700">
            <a:solidFill>
              <a:srgbClr val="11A8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17627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version shares this pipeline — differences lie in: patch size, CNN backbone, SRM strategy, and training schedule.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43200"/>
            <a:ext cx="2194560" cy="301752"/>
          </a:xfrm>
          <a:prstGeom prst="rect">
            <a:avLst/>
          </a:prstGeom>
          <a:solidFill>
            <a:srgbClr val="0F1B35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761488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0" y="2743200"/>
            <a:ext cx="2011680" cy="301752"/>
          </a:xfrm>
          <a:prstGeom prst="rect">
            <a:avLst/>
          </a:prstGeom>
          <a:solidFill>
            <a:srgbClr val="0F1B35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276148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(First)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2743200"/>
            <a:ext cx="2011680" cy="301752"/>
          </a:xfrm>
          <a:prstGeom prst="rect">
            <a:avLst/>
          </a:prstGeom>
          <a:solidFill>
            <a:srgbClr val="0F1B35"/>
          </a:solidFill>
          <a:ln/>
        </p:spPr>
      </p:sp>
      <p:sp>
        <p:nvSpPr>
          <p:cNvPr id="28" name="Text 26"/>
          <p:cNvSpPr/>
          <p:nvPr/>
        </p:nvSpPr>
        <p:spPr>
          <a:xfrm>
            <a:off x="4617720" y="276148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(Final Fixed)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2743200"/>
            <a:ext cx="2926080" cy="301752"/>
          </a:xfrm>
          <a:prstGeom prst="rect">
            <a:avLst/>
          </a:prstGeom>
          <a:solidFill>
            <a:srgbClr val="0F1B35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2761488"/>
            <a:ext cx="2834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(Final)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044952"/>
            <a:ext cx="2194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063240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size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560320" y="3044952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06040" y="306324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px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0" y="3044952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306324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px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583680" y="3044952"/>
            <a:ext cx="2926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3063240"/>
            <a:ext cx="2834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48×48 px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3346704"/>
            <a:ext cx="2194560" cy="301752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364992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size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560320" y="3346704"/>
            <a:ext cx="2011680" cy="301752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6040" y="336499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train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0" y="3346704"/>
            <a:ext cx="2011680" cy="301752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336499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train / 30 test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583680" y="3346704"/>
            <a:ext cx="2926080" cy="301752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3364992"/>
            <a:ext cx="2834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train / 50 test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3648456"/>
            <a:ext cx="2194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666744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backbone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560320" y="3648456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6040" y="366674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572000" y="3648456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17720" y="366674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SRNet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583680" y="3648456"/>
            <a:ext cx="2926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29400" y="3666744"/>
            <a:ext cx="2834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 + DenseNet-121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65760" y="3950208"/>
            <a:ext cx="2194560" cy="301752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968496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strategy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560320" y="3950208"/>
            <a:ext cx="2011680" cy="301752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06040" y="396849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Post-CNN (broken)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572000" y="3950208"/>
            <a:ext cx="2011680" cy="301752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17720" y="396849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kernels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583680" y="3950208"/>
            <a:ext cx="2926080" cy="301752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29400" y="3968496"/>
            <a:ext cx="2834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adapter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65760" y="4251960"/>
            <a:ext cx="2194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4270248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560320" y="4251960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06040" y="427024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(broken)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572000" y="4251960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17720" y="427024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PNG fix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583680" y="4251960"/>
            <a:ext cx="2926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4270248"/>
            <a:ext cx="2834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PNG fix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365760" y="4553712"/>
            <a:ext cx="2194560" cy="301752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" y="4572000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phases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2560320" y="4553712"/>
            <a:ext cx="2011680" cy="301752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606040" y="457200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phases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4572000" y="4553712"/>
            <a:ext cx="2011680" cy="301752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17720" y="457200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phases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6583680" y="4553712"/>
            <a:ext cx="2926080" cy="301752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29400" y="4572000"/>
            <a:ext cx="2834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phases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1 — First Attempt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4160520"/>
          </a:xfrm>
          <a:prstGeom prst="rect">
            <a:avLst/>
          </a:prstGeom>
          <a:solidFill>
            <a:srgbClr val="1A3A6B"/>
          </a:solidFill>
          <a:ln w="12700">
            <a:solidFill>
              <a:srgbClr val="11A8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A8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Backbone:   EfficientNet-B0 (ImageNet pre-trained)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7007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Patches:    20 × 64×64 per image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SRM:        Applied AFTER CNN (critical flaw)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5054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      Original JPEG dataset (broken)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Training:   Interrupted at epoch 4/30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310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Phases:     2 phases (frozen → fine-tune)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Aggregator: Standard Attention MIL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114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Optimizer:  Adam, LR 1e-3 → 1e-4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777240"/>
            <a:ext cx="4114800" cy="4160520"/>
          </a:xfrm>
          <a:prstGeom prst="rect">
            <a:avLst/>
          </a:prstGeom>
          <a:solidFill>
            <a:srgbClr val="1A3A6B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2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Failures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00600" y="1298448"/>
            <a:ext cx="201168" cy="201168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298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1280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placed after CNN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5179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backbone suppressed high-freq noise before SRM could act.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1993392"/>
            <a:ext cx="201168" cy="201168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993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1975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pre-training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22128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optimises to suppress the same noise LSB creates.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688336"/>
            <a:ext cx="201168" cy="201168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688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2670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patch coverage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29077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 patches of 64×64 — insufficient image coverage.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3383280"/>
            <a:ext cx="201168" cy="201168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383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3364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cut short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36027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at epoch 4/30 — no learning could occur.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4078224"/>
            <a:ext cx="201168" cy="201168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4078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40599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dataset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74920" y="42976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 format destroyed LSB signal entirely (diffs 0–10 vs 0–1).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922B21">
              <a:alpha val="70000"/>
            </a:srgbClr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69087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AUC = 0.50  (random-chance performance — model learned nothing)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2 — SRNet Architecture + Data Fix Attempt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3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v2 Fixed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01168" cy="201168"/>
          </a:xfrm>
          <a:prstGeom prst="ellipse">
            <a:avLst/>
          </a:prstGeom>
          <a:solidFill>
            <a:srgbClr val="1D834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53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5819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EfficientNet-B0 with a shallow SRNet CNN trained from scratch — no ImageNet bias.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029968"/>
            <a:ext cx="201168" cy="201168"/>
          </a:xfrm>
          <a:prstGeom prst="ellipse">
            <a:avLst/>
          </a:prstGeom>
          <a:solidFill>
            <a:srgbClr val="1D834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moved to dataset level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SRM high-pass filter during data loading, before patches enter the CNN.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688336"/>
            <a:ext cx="201168" cy="201168"/>
          </a:xfrm>
          <a:prstGeom prst="ellipse">
            <a:avLst/>
          </a:prstGeom>
          <a:solidFill>
            <a:srgbClr val="1D834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70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data fix introduced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8986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of lossless data regeneration was introduced (critical insight).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346704"/>
            <a:ext cx="201168" cy="201168"/>
          </a:xfrm>
          <a:prstGeom prst="ellipse">
            <a:avLst/>
          </a:prstGeom>
          <a:solidFill>
            <a:srgbClr val="1D834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28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 added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5570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label smoothing to prevent overconfident outputs and loss collapse.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005072"/>
            <a:ext cx="201168" cy="201168"/>
          </a:xfrm>
          <a:prstGeom prst="ellipse">
            <a:avLst/>
          </a:prstGeom>
          <a:solidFill>
            <a:srgbClr val="1D834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86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2153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training when AUC stagnates — avoids wasted epochs.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777240"/>
            <a:ext cx="402336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2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Failure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92040" y="1371600"/>
            <a:ext cx="201168" cy="201168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1353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stego dataset still broken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15819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Kaggle dataset stores stego images as JPEG. Re-compression overwrote the LSB embedding entirely.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2066544"/>
            <a:ext cx="201168" cy="201168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2048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22768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analysis showed: Unique diffs [0,1,2,...,10] instead of [0,1]. Max diff = 10, not 1.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92040" y="2761488"/>
            <a:ext cx="201168" cy="201168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2743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2971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for 100+ combined epochs learning random JPEG quantization noise — not steganography.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92040" y="3456432"/>
            <a:ext cx="201168" cy="201168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438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on JPEG = noise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36667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SRM to JPEG artifacts amplifies quantization noise, not the LSB residual.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DEBD0"/>
          </a:solidFill>
          <a:ln w="19050">
            <a:solidFill>
              <a:srgbClr val="B7770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69087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AUC ≈ 0.50  (improved architecture, but still learning noise — same root cause)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Problem: JPEG Destroys LSB Embeddings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931920" cy="4160520"/>
          </a:xfrm>
          <a:prstGeom prst="rect">
            <a:avLst/>
          </a:prstGeom>
          <a:solidFill>
            <a:srgbClr val="1A3A6B"/>
          </a:solidFill>
          <a:ln w="19050">
            <a:solidFill>
              <a:srgbClr val="922B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2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Pipeline (v1 &amp; v2)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Load JPEG cover image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Embed LSB in raw pixels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2B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Save back as JPEG  ← FATAL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(JPEG re-compression destroys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 ±1 embedding with ±1..10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quantization noise)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246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Diagnostic output: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A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Unique diffs: [0,1,2,...,10]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A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 diff:      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JPEG noise, NOT steganography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777240"/>
            <a:ext cx="3931920" cy="4160520"/>
          </a:xfrm>
          <a:prstGeom prst="rect">
            <a:avLst/>
          </a:prstGeom>
          <a:solidFill>
            <a:srgbClr val="1A3A6B"/>
          </a:solidFill>
          <a:ln w="19050">
            <a:solidFill>
              <a:srgbClr val="1D83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83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Pipeline (v4)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1325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Load JPEG cover image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Decompress to raw pixels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Embed LSB in raw pixels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2148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83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Save BOTH as lossless PNG ← KEY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2423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(no re-compression ever)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Diagnostic output: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246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A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Unique diffs: [0, 1]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A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 diff:      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A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Mean diff:     0.199 (~20% pixels)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Clean LSB signal confirmed ✓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4 — Final Architecture Deep Dive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834640" cy="438912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795528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Trainable SRM Adapter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16152"/>
            <a:ext cx="28346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7C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371600"/>
            <a:ext cx="164592" cy="164592"/>
          </a:xfrm>
          <a:prstGeom prst="ellipse">
            <a:avLst/>
          </a:prstGeom>
          <a:solidFill>
            <a:srgbClr val="0D7C7C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33502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depthwise conv initialized from 3 SRM kernels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2121408"/>
            <a:ext cx="164592" cy="164592"/>
          </a:xfrm>
          <a:prstGeom prst="ellipse">
            <a:avLst/>
          </a:prstGeom>
          <a:solidFill>
            <a:srgbClr val="0D7C7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08483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abs() — LSB residuals are symmetric ±1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871216"/>
            <a:ext cx="164592" cy="164592"/>
          </a:xfrm>
          <a:prstGeom prst="ellipse">
            <a:avLst/>
          </a:prstGeom>
          <a:solidFill>
            <a:srgbClr val="0D7C7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8346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during training unlike fixed SRM in v2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3621024"/>
            <a:ext cx="164592" cy="164592"/>
          </a:xfrm>
          <a:prstGeom prst="ellipse">
            <a:avLst/>
          </a:prstGeom>
          <a:solidFill>
            <a:srgbClr val="0D7C7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58444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Pointwise mix learned on top of depthwise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27832" y="777240"/>
            <a:ext cx="2834640" cy="43891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3300984" y="795528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Dual-Backbone Extractor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27832" y="1216152"/>
            <a:ext cx="28346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1371600"/>
            <a:ext cx="164592" cy="164592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3575304" y="133502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ConvNeXt-Tiny: 7×7 kernels for global texture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2121408"/>
            <a:ext cx="164592" cy="164592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575304" y="208483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DenseNet-121: dense skip connections for multi-scale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2871216"/>
            <a:ext cx="164592" cy="164592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3575304" y="28346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concatenated to 768-dim fused feature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3621024"/>
            <a:ext cx="164592" cy="164592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25" name="Text 23"/>
          <p:cNvSpPr/>
          <p:nvPr/>
        </p:nvSpPr>
        <p:spPr>
          <a:xfrm>
            <a:off x="3575304" y="358444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Complementary: covers frequency + spatial aspects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81344" y="777240"/>
            <a:ext cx="2834640" cy="438912"/>
          </a:xfrm>
          <a:prstGeom prst="rect">
            <a:avLst/>
          </a:prstGeom>
          <a:solidFill>
            <a:srgbClr val="0F1B35"/>
          </a:solidFill>
          <a:ln/>
        </p:spPr>
      </p:sp>
      <p:sp>
        <p:nvSpPr>
          <p:cNvPr id="27" name="Text 25"/>
          <p:cNvSpPr/>
          <p:nvPr/>
        </p:nvSpPr>
        <p:spPr>
          <a:xfrm>
            <a:off x="6254496" y="795528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3-Phase Training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81344" y="1216152"/>
            <a:ext cx="28346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B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91072" y="1371600"/>
            <a:ext cx="164592" cy="164592"/>
          </a:xfrm>
          <a:prstGeom prst="ellipse">
            <a:avLst/>
          </a:prstGeom>
          <a:solidFill>
            <a:srgbClr val="0F1B35"/>
          </a:solidFill>
          <a:ln/>
        </p:spPr>
      </p:sp>
      <p:sp>
        <p:nvSpPr>
          <p:cNvPr id="30" name="Text 28"/>
          <p:cNvSpPr/>
          <p:nvPr/>
        </p:nvSpPr>
        <p:spPr>
          <a:xfrm>
            <a:off x="6528816" y="133502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(e1–5): all backbone frozen, MIL head warmup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91072" y="2121408"/>
            <a:ext cx="164592" cy="164592"/>
          </a:xfrm>
          <a:prstGeom prst="ellipse">
            <a:avLst/>
          </a:prstGeom>
          <a:solidFill>
            <a:srgbClr val="0F1B35"/>
          </a:solidFill>
          <a:ln/>
        </p:spPr>
      </p:sp>
      <p:sp>
        <p:nvSpPr>
          <p:cNvPr id="32" name="Text 30"/>
          <p:cNvSpPr/>
          <p:nvPr/>
        </p:nvSpPr>
        <p:spPr>
          <a:xfrm>
            <a:off x="6528816" y="208483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(e6–20): unfreeze late blocks (3+) only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91072" y="2871216"/>
            <a:ext cx="164592" cy="164592"/>
          </a:xfrm>
          <a:prstGeom prst="ellipse">
            <a:avLst/>
          </a:prstGeom>
          <a:solidFill>
            <a:srgbClr val="0F1B35"/>
          </a:solidFill>
          <a:ln/>
        </p:spPr>
      </p:sp>
      <p:sp>
        <p:nvSpPr>
          <p:cNvPr id="34" name="Text 32"/>
          <p:cNvSpPr/>
          <p:nvPr/>
        </p:nvSpPr>
        <p:spPr>
          <a:xfrm>
            <a:off x="6528816" y="28346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(e21–40): full fine-tune, early LR ×0.1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91072" y="3621024"/>
            <a:ext cx="164592" cy="164592"/>
          </a:xfrm>
          <a:prstGeom prst="ellipse">
            <a:avLst/>
          </a:prstGeom>
          <a:solidFill>
            <a:srgbClr val="0F1B35"/>
          </a:solidFill>
          <a:ln/>
        </p:spPr>
      </p:sp>
      <p:sp>
        <p:nvSpPr>
          <p:cNvPr id="36" name="Text 34"/>
          <p:cNvSpPr/>
          <p:nvPr/>
        </p:nvSpPr>
        <p:spPr>
          <a:xfrm>
            <a:off x="6528816" y="358444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augmentation: prevents loss collapse to ln(2)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0F1B35">
              <a:alpha val="9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55371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A8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 Attention MIL  |  a_k ∝ tanh(Vh_k) × sigmoid(Uh_k)  —  suppresses clean patches more aggressively than softmax alone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Head-to-Head: v1 vs v2 vs v4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2286000" cy="384048"/>
          </a:xfrm>
          <a:prstGeom prst="rect">
            <a:avLst/>
          </a:prstGeom>
          <a:solidFill>
            <a:srgbClr val="0F1B3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" y="81381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777240"/>
            <a:ext cx="2103120" cy="384048"/>
          </a:xfrm>
          <a:prstGeom prst="rect">
            <a:avLst/>
          </a:prstGeom>
          <a:solidFill>
            <a:srgbClr val="0F1B35"/>
          </a:solidFill>
          <a:ln/>
        </p:spPr>
      </p:sp>
      <p:sp>
        <p:nvSpPr>
          <p:cNvPr id="7" name="Text 5"/>
          <p:cNvSpPr/>
          <p:nvPr/>
        </p:nvSpPr>
        <p:spPr>
          <a:xfrm>
            <a:off x="2340864" y="81381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(First)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777240"/>
            <a:ext cx="2103120" cy="384048"/>
          </a:xfrm>
          <a:prstGeom prst="rect">
            <a:avLst/>
          </a:prstGeom>
          <a:solidFill>
            <a:srgbClr val="0F1B35"/>
          </a:solidFill>
          <a:ln/>
        </p:spPr>
      </p:sp>
      <p:sp>
        <p:nvSpPr>
          <p:cNvPr id="9" name="Text 7"/>
          <p:cNvSpPr/>
          <p:nvPr/>
        </p:nvSpPr>
        <p:spPr>
          <a:xfrm>
            <a:off x="4443984" y="81381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(Fixed Arch)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777240"/>
            <a:ext cx="2651760" cy="384048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11" name="Text 9"/>
          <p:cNvSpPr/>
          <p:nvPr/>
        </p:nvSpPr>
        <p:spPr>
          <a:xfrm>
            <a:off x="6547104" y="81381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(Final)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116128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" y="119786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format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0" y="1161288"/>
            <a:ext cx="2103120" cy="384048"/>
          </a:xfrm>
          <a:prstGeom prst="rect">
            <a:avLst/>
          </a:prstGeom>
          <a:solidFill>
            <a:srgbClr val="FADBD8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40864" y="11978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(broken)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0" y="1161288"/>
            <a:ext cx="2103120" cy="384048"/>
          </a:xfrm>
          <a:prstGeom prst="rect">
            <a:avLst/>
          </a:prstGeom>
          <a:solidFill>
            <a:srgbClr val="FADBD8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11978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(still broken)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92240" y="1161288"/>
            <a:ext cx="2651760" cy="384048"/>
          </a:xfrm>
          <a:prstGeom prst="rect">
            <a:avLst/>
          </a:prstGeom>
          <a:solidFill>
            <a:srgbClr val="D5F5E3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7104" y="119786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PNG ✓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1545336"/>
            <a:ext cx="228600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" y="158191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0" y="1545336"/>
            <a:ext cx="210312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40864" y="158191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1545336"/>
            <a:ext cx="210312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43984" y="158191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SRNet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92240" y="1545336"/>
            <a:ext cx="2651760" cy="384048"/>
          </a:xfrm>
          <a:prstGeom prst="rect">
            <a:avLst/>
          </a:prstGeom>
          <a:solidFill>
            <a:srgbClr val="D5F5E3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158191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 + DenseNet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192938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" y="196596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approach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0" y="1929384"/>
            <a:ext cx="2103120" cy="384048"/>
          </a:xfrm>
          <a:prstGeom prst="rect">
            <a:avLst/>
          </a:prstGeom>
          <a:solidFill>
            <a:srgbClr val="FADBD8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40864" y="196596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Post-CNN (broken)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0" y="1929384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43984" y="196596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pre-CNN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92240" y="1929384"/>
            <a:ext cx="2651760" cy="384048"/>
          </a:xfrm>
          <a:prstGeom prst="rect">
            <a:avLst/>
          </a:prstGeom>
          <a:solidFill>
            <a:srgbClr val="D5F5E3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196596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adapter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2313432"/>
            <a:ext cx="228600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" y="235000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size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0" y="2313432"/>
            <a:ext cx="210312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40864" y="235000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389120" y="2313432"/>
            <a:ext cx="210312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43984" y="235000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92240" y="2313432"/>
            <a:ext cx="2651760" cy="384048"/>
          </a:xfrm>
          <a:prstGeom prst="rect">
            <a:avLst/>
          </a:prstGeom>
          <a:solidFill>
            <a:srgbClr val="D5F5E3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47104" y="235000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48×48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269748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" y="27340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size (train)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286000" y="2697480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40864" y="273405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389120" y="2697480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3984" y="273405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92240" y="2697480"/>
            <a:ext cx="2651760" cy="384048"/>
          </a:xfrm>
          <a:prstGeom prst="rect">
            <a:avLst/>
          </a:prstGeom>
          <a:solidFill>
            <a:srgbClr val="D5F5E3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47104" y="273405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0" y="3081528"/>
            <a:ext cx="228600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" y="311810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286000" y="3081528"/>
            <a:ext cx="210312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40864" y="31181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389120" y="3081528"/>
            <a:ext cx="210312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43984" y="31181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492240" y="3081528"/>
            <a:ext cx="2651760" cy="384048"/>
          </a:xfrm>
          <a:prstGeom prst="rect">
            <a:avLst/>
          </a:prstGeom>
          <a:solidFill>
            <a:srgbClr val="D5F5E3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47104" y="311810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0" y="346557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" y="350215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augmentation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286000" y="3465576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40864" y="350215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389120" y="3465576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43984" y="350215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492240" y="3465576"/>
            <a:ext cx="2651760" cy="384048"/>
          </a:xfrm>
          <a:prstGeom prst="rect">
            <a:avLst/>
          </a:prstGeom>
          <a:solidFill>
            <a:srgbClr val="D5F5E3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47104" y="350215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(α=0.2)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0" y="3849624"/>
            <a:ext cx="228600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" y="388620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attention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286000" y="3849624"/>
            <a:ext cx="210312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340864" y="388620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389120" y="3849624"/>
            <a:ext cx="210312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43984" y="388620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492240" y="3849624"/>
            <a:ext cx="2651760" cy="384048"/>
          </a:xfrm>
          <a:prstGeom prst="rect">
            <a:avLst/>
          </a:prstGeom>
          <a:solidFill>
            <a:srgbClr val="D5F5E3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47104" y="3886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0" y="4233672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864" y="427024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286000" y="4233672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40864" y="427024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389120" y="4233672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443984" y="427024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(0.05)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6492240" y="4233672"/>
            <a:ext cx="2651760" cy="384048"/>
          </a:xfrm>
          <a:prstGeom prst="rect">
            <a:avLst/>
          </a:prstGeom>
          <a:solidFill>
            <a:srgbClr val="D5F5E3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47104" y="427024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(0.10)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0" y="4617720"/>
            <a:ext cx="228600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4864" y="465429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AUC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2286000" y="4617720"/>
            <a:ext cx="2103120" cy="384048"/>
          </a:xfrm>
          <a:prstGeom prst="rect">
            <a:avLst/>
          </a:prstGeom>
          <a:solidFill>
            <a:srgbClr val="FADBD8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340864" y="465429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(random)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4389120" y="4617720"/>
            <a:ext cx="2103120" cy="384048"/>
          </a:xfrm>
          <a:prstGeom prst="rect">
            <a:avLst/>
          </a:prstGeom>
          <a:solidFill>
            <a:srgbClr val="FADBD8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43984" y="465429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≈0.50 (noise)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6492240" y="4617720"/>
            <a:ext cx="2651760" cy="384048"/>
          </a:xfrm>
          <a:prstGeom prst="rect">
            <a:avLst/>
          </a:prstGeom>
          <a:solidFill>
            <a:srgbClr val="D5F5E3"/>
          </a:solidFill>
          <a:ln w="6350">
            <a:solidFill>
              <a:srgbClr val="D8E2E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47104" y="465429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signal ✓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Lessons Learned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834640" cy="1828800"/>
          </a:xfrm>
          <a:prstGeom prst="rect">
            <a:avLst/>
          </a:prstGeom>
          <a:solidFill>
            <a:srgbClr val="1A3A6B"/>
          </a:solidFill>
          <a:ln w="19050">
            <a:solidFill>
              <a:srgbClr val="11A8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326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A8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84048" y="134416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Trumps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682496"/>
            <a:ext cx="26151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architectural improvements in v1 and v2 were irrelevant because the dataset was broken. The LSB signal was destroyed by JPEG re-compression. Verify data integrity before any model work.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27832" y="841248"/>
            <a:ext cx="2834640" cy="1828800"/>
          </a:xfrm>
          <a:prstGeom prst="rect">
            <a:avLst/>
          </a:prstGeom>
          <a:solidFill>
            <a:srgbClr val="1A3A6B"/>
          </a:solidFill>
          <a:ln w="19050">
            <a:solidFill>
              <a:srgbClr val="B8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9326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D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37560" y="134416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Your Signal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682496"/>
            <a:ext cx="26151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changes are exactly ±1. A simple diff histogram reveals whether data is clean ([0,1]) or corrupted ([0–10]). Domain-specific diagnostic tools prevent months of wasted training.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1344" y="841248"/>
            <a:ext cx="2834640" cy="1828800"/>
          </a:xfrm>
          <a:prstGeom prst="rect">
            <a:avLst/>
          </a:prstGeom>
          <a:solidFill>
            <a:srgbClr val="1A3A6B"/>
          </a:solidFill>
          <a:ln w="19050">
            <a:solidFill>
              <a:srgbClr val="11A8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9326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A8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91072" y="134416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SRM Placement Matters Critically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1072" y="1682496"/>
            <a:ext cx="26151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Placing SRM after an ImageNet CNN is fundamentally wrong. ImageNet training actively suppresses high-frequency noise. SRM must preprocess data before any learned features are extracted.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834640" cy="1828800"/>
          </a:xfrm>
          <a:prstGeom prst="rect">
            <a:avLst/>
          </a:prstGeom>
          <a:solidFill>
            <a:srgbClr val="1A3A6B"/>
          </a:solidFill>
          <a:ln w="19050">
            <a:solidFill>
              <a:srgbClr val="B8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9260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D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4048" y="333756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Complementary Backbones &gt; Single Strong Backbone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675888"/>
            <a:ext cx="26151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ConvNeXt-Tiny (large kernels, global) and DenseNet-121 (dense connections, multi-scale) capture different aspects of the LSB residual, working better together than either alone.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27832" y="2834640"/>
            <a:ext cx="2834640" cy="1828800"/>
          </a:xfrm>
          <a:prstGeom prst="rect">
            <a:avLst/>
          </a:prstGeom>
          <a:solidFill>
            <a:srgbClr val="1A3A6B"/>
          </a:solidFill>
          <a:ln w="19050">
            <a:solidFill>
              <a:srgbClr val="11A8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9260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A8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37560" y="333756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Training Preserves Pre-trained Knowledge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675888"/>
            <a:ext cx="26151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training: freeze all → unfreeze late blocks → full fine-tune with layer-wise LR decay. This prevents catastrophic forgetting while allowing task-specific adaptation.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81344" y="2834640"/>
            <a:ext cx="2834640" cy="1828800"/>
          </a:xfrm>
          <a:prstGeom prst="rect">
            <a:avLst/>
          </a:prstGeom>
          <a:solidFill>
            <a:srgbClr val="1A3A6B"/>
          </a:solidFill>
          <a:ln w="19050">
            <a:solidFill>
              <a:srgbClr val="B8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29260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D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91072" y="333756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Trainable Preprocessing Adapts to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3675888"/>
            <a:ext cx="26151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learnable SRM adapter (SRM-initialized, free to adapt) outperforms fixed SRM kernels. The optimal high-pass filter for a specific dataset may differ from classical SRM kernels.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Final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822960"/>
            <a:ext cx="1828800" cy="685800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841248"/>
            <a:ext cx="1737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Arch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165860"/>
            <a:ext cx="731520" cy="0"/>
          </a:xfrm>
          <a:prstGeom prst="line">
            <a:avLst/>
          </a:prstGeom>
          <a:noFill/>
          <a:ln w="25400">
            <a:solidFill>
              <a:srgbClr val="B8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07792" y="102412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822960"/>
            <a:ext cx="1828800" cy="685800"/>
          </a:xfrm>
          <a:prstGeom prst="rect">
            <a:avLst/>
          </a:prstGeom>
          <a:solidFill>
            <a:srgbClr val="B7770D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841248"/>
            <a:ext cx="1737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0" y="1165860"/>
            <a:ext cx="731520" cy="0"/>
          </a:xfrm>
          <a:prstGeom prst="line">
            <a:avLst/>
          </a:prstGeom>
          <a:noFill/>
          <a:ln w="25400">
            <a:solidFill>
              <a:srgbClr val="B8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68112" y="102412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822960"/>
            <a:ext cx="1828800" cy="685800"/>
          </a:xfrm>
          <a:prstGeom prst="rect">
            <a:avLst/>
          </a:prstGeom>
          <a:solidFill>
            <a:srgbClr val="11A89C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841248"/>
            <a:ext cx="1737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Fix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1691640"/>
            <a:ext cx="8412480" cy="3246120"/>
          </a:xfrm>
          <a:prstGeom prst="rect">
            <a:avLst/>
          </a:prstGeom>
          <a:solidFill>
            <a:srgbClr val="1A3A6B"/>
          </a:solidFill>
          <a:ln w="19050">
            <a:solidFill>
              <a:srgbClr val="11A8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7830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A8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 Final Stack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2240280"/>
            <a:ext cx="1188720" cy="329184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40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225856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→ lossless PNG regeneration; unique diffs [0,1] verified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70048"/>
            <a:ext cx="1188720" cy="329184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670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268833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SRM Adapter (SRM-init 5×5 depthwise + abs() + pointwise)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099816"/>
            <a:ext cx="1188720" cy="329184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0998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311810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ConvNeXt-Tiny + DenseNet-121, fused to 768-dim feature per patch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529584"/>
            <a:ext cx="1188720" cy="329184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5295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28800" y="354787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Attention MIL  (tanh × sigmoid gates)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959352"/>
            <a:ext cx="1188720" cy="329184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9593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28800" y="397764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512-dim MLP with LayerNorm, GELU, Dropout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389120"/>
            <a:ext cx="1188720" cy="329184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389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28800" y="440740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schedule + Mixup (α=0.2) + label smoothing (0.1) + cosine LR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1A89C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69087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notebooks. One root cause found. Clean data + specialized architecture = reliable steganalysis.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 Steganalysis: Evolution Across Versions</dc:title>
  <dc:subject>PptxGenJS Presentation</dc:subject>
  <dc:creator>PptxGenJS</dc:creator>
  <cp:lastModifiedBy>PptxGenJS</cp:lastModifiedBy>
  <cp:revision>1</cp:revision>
  <dcterms:created xsi:type="dcterms:W3CDTF">2026-05-21T18:14:05Z</dcterms:created>
  <dcterms:modified xsi:type="dcterms:W3CDTF">2026-05-21T18:14:05Z</dcterms:modified>
</cp:coreProperties>
</file>